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7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940" y="448942"/>
            <a:ext cx="5418455" cy="87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rcid.org/0009-0004-8245-6470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27600" y="8686800"/>
            <a:ext cx="11328400" cy="419100"/>
          </a:xfrm>
          <a:custGeom>
            <a:avLst/>
            <a:gdLst/>
            <a:ahLst/>
            <a:cxnLst/>
            <a:rect l="l" t="t" r="r" b="b"/>
            <a:pathLst>
              <a:path w="11328400" h="419100">
                <a:moveTo>
                  <a:pt x="11328400" y="0"/>
                </a:moveTo>
                <a:lnTo>
                  <a:pt x="0" y="0"/>
                </a:lnTo>
                <a:lnTo>
                  <a:pt x="0" y="419100"/>
                </a:lnTo>
                <a:lnTo>
                  <a:pt x="11328400" y="419100"/>
                </a:lnTo>
                <a:lnTo>
                  <a:pt x="11328400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27600" y="7924800"/>
            <a:ext cx="11328400" cy="462280"/>
          </a:xfrm>
          <a:prstGeom prst="rect">
            <a:avLst/>
          </a:prstGeom>
          <a:solidFill>
            <a:srgbClr val="293439"/>
          </a:solidFill>
        </p:spPr>
        <p:txBody>
          <a:bodyPr vert="horz" wrap="square" lIns="0" tIns="2603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04"/>
              </a:spcBef>
              <a:tabLst>
                <a:tab pos="2986405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Autores: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Maestrandos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	en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Gerencia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General,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cohorte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MGG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27600" y="8686800"/>
            <a:ext cx="11328400" cy="419100"/>
          </a:xfrm>
          <a:custGeom>
            <a:avLst/>
            <a:gdLst/>
            <a:ahLst/>
            <a:cxnLst/>
            <a:rect l="l" t="t" r="r" b="b"/>
            <a:pathLst>
              <a:path w="11328400" h="419100">
                <a:moveTo>
                  <a:pt x="11328400" y="0"/>
                </a:moveTo>
                <a:lnTo>
                  <a:pt x="0" y="0"/>
                </a:lnTo>
                <a:lnTo>
                  <a:pt x="0" y="419100"/>
                </a:lnTo>
                <a:lnTo>
                  <a:pt x="11328400" y="419100"/>
                </a:lnTo>
                <a:lnTo>
                  <a:pt x="11328400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27600" y="8686800"/>
            <a:ext cx="11328400" cy="419100"/>
          </a:xfrm>
          <a:custGeom>
            <a:avLst/>
            <a:gdLst/>
            <a:ahLst/>
            <a:cxnLst/>
            <a:rect l="l" t="t" r="r" b="b"/>
            <a:pathLst>
              <a:path w="11328400" h="419100">
                <a:moveTo>
                  <a:pt x="11328400" y="0"/>
                </a:moveTo>
                <a:lnTo>
                  <a:pt x="0" y="0"/>
                </a:lnTo>
                <a:lnTo>
                  <a:pt x="0" y="419100"/>
                </a:lnTo>
                <a:lnTo>
                  <a:pt x="11328400" y="419100"/>
                </a:lnTo>
                <a:lnTo>
                  <a:pt x="11328400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994400" y="3200400"/>
            <a:ext cx="1447800" cy="369570"/>
          </a:xfrm>
          <a:custGeom>
            <a:avLst/>
            <a:gdLst/>
            <a:ahLst/>
            <a:cxnLst/>
            <a:rect l="l" t="t" r="r" b="b"/>
            <a:pathLst>
              <a:path w="1447800" h="369570">
                <a:moveTo>
                  <a:pt x="1447800" y="0"/>
                </a:moveTo>
                <a:lnTo>
                  <a:pt x="0" y="0"/>
                </a:lnTo>
                <a:lnTo>
                  <a:pt x="0" y="369328"/>
                </a:lnTo>
                <a:lnTo>
                  <a:pt x="1447800" y="369328"/>
                </a:lnTo>
                <a:lnTo>
                  <a:pt x="1447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000" y="1817179"/>
            <a:ext cx="3019005" cy="33644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90400" y="921614"/>
            <a:ext cx="3835400" cy="945515"/>
          </a:xfrm>
          <a:prstGeom prst="rect">
            <a:avLst/>
          </a:prstGeom>
          <a:solidFill>
            <a:srgbClr val="FFFFFF"/>
          </a:solidFill>
          <a:ln w="28575">
            <a:solidFill>
              <a:srgbClr val="1C2E4A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366395" marR="391160" indent="483870">
              <a:lnSpc>
                <a:spcPct val="101200"/>
              </a:lnSpc>
              <a:spcBef>
                <a:spcPts val="585"/>
              </a:spcBef>
            </a:pPr>
            <a:r>
              <a:rPr b="1" dirty="0">
                <a:solidFill>
                  <a:srgbClr val="16375E"/>
                </a:solidFill>
                <a:latin typeface="Arial"/>
                <a:cs typeface="Arial"/>
              </a:rPr>
              <a:t>Indexación</a:t>
            </a:r>
            <a:r>
              <a:rPr b="1" spc="-95" dirty="0">
                <a:solidFill>
                  <a:srgbClr val="16375E"/>
                </a:solidFill>
                <a:latin typeface="Arial"/>
                <a:cs typeface="Arial"/>
              </a:rPr>
              <a:t> </a:t>
            </a:r>
            <a:r>
              <a:rPr b="1" spc="-50" dirty="0">
                <a:solidFill>
                  <a:srgbClr val="16375E"/>
                </a:solidFill>
                <a:latin typeface="Arial"/>
                <a:cs typeface="Arial"/>
              </a:rPr>
              <a:t>y </a:t>
            </a:r>
            <a:r>
              <a:rPr b="1" dirty="0">
                <a:solidFill>
                  <a:srgbClr val="16375E"/>
                </a:solidFill>
                <a:latin typeface="Arial"/>
                <a:cs typeface="Arial"/>
              </a:rPr>
              <a:t>Alcance</a:t>
            </a:r>
            <a:r>
              <a:rPr b="1" spc="-105" dirty="0">
                <a:solidFill>
                  <a:srgbClr val="16375E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16375E"/>
                </a:solidFill>
                <a:latin typeface="Arial"/>
                <a:cs typeface="Arial"/>
              </a:rPr>
              <a:t>Científico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090400" y="1867129"/>
            <a:ext cx="3835400" cy="4043679"/>
          </a:xfrm>
          <a:prstGeom prst="rect">
            <a:avLst/>
          </a:prstGeom>
          <a:solidFill>
            <a:srgbClr val="FFFFFF"/>
          </a:solidFill>
          <a:ln w="28575">
            <a:solidFill>
              <a:srgbClr val="1C2E4A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389255" marR="576580" indent="-223520" algn="just">
              <a:lnSpc>
                <a:spcPct val="143500"/>
              </a:lnSpc>
              <a:spcBef>
                <a:spcPts val="670"/>
              </a:spcBef>
              <a:buFont typeface="Calibri"/>
              <a:buChar char="•"/>
              <a:tabLst>
                <a:tab pos="389255" algn="l"/>
                <a:tab pos="398780" algn="l"/>
              </a:tabLst>
            </a:pPr>
            <a:r>
              <a:rPr sz="18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800" b="1" spc="-155" dirty="0">
                <a:solidFill>
                  <a:srgbClr val="252525"/>
                </a:solidFill>
                <a:latin typeface="Calibri"/>
                <a:cs typeface="Calibri"/>
              </a:rPr>
              <a:t>Múltiples</a:t>
            </a:r>
            <a:r>
              <a:rPr sz="1800" b="1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20" dirty="0">
                <a:solidFill>
                  <a:srgbClr val="252525"/>
                </a:solidFill>
                <a:latin typeface="Calibri"/>
                <a:cs typeface="Calibri"/>
              </a:rPr>
              <a:t>citaciones</a:t>
            </a:r>
            <a:r>
              <a:rPr sz="1800" b="1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14" dirty="0">
                <a:solidFill>
                  <a:srgbClr val="252525"/>
                </a:solidFill>
                <a:latin typeface="Calibri"/>
                <a:cs typeface="Calibri"/>
              </a:rPr>
              <a:t>enplataformas </a:t>
            </a:r>
            <a:r>
              <a:rPr sz="1800" b="1" dirty="0">
                <a:solidFill>
                  <a:srgbClr val="252525"/>
                </a:solidFill>
                <a:latin typeface="Calibri"/>
                <a:cs typeface="Calibri"/>
              </a:rPr>
              <a:t>Scielo,</a:t>
            </a:r>
            <a:r>
              <a:rPr sz="1800" b="1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55" dirty="0">
                <a:solidFill>
                  <a:srgbClr val="252525"/>
                </a:solidFill>
                <a:latin typeface="Calibri"/>
                <a:cs typeface="Calibri"/>
              </a:rPr>
              <a:t>Redalyc</a:t>
            </a:r>
            <a:r>
              <a:rPr sz="1800" b="1" spc="-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alibri"/>
                <a:cs typeface="Calibri"/>
              </a:rPr>
              <a:t>y</a:t>
            </a:r>
            <a:r>
              <a:rPr sz="1800" b="1" spc="-2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Calibri"/>
                <a:cs typeface="Calibri"/>
              </a:rPr>
              <a:t>Sidalc.</a:t>
            </a:r>
            <a:endParaRPr sz="1800">
              <a:latin typeface="Calibri"/>
              <a:cs typeface="Calibri"/>
            </a:endParaRPr>
          </a:p>
          <a:p>
            <a:pPr marL="399415" indent="-232410" algn="just">
              <a:lnSpc>
                <a:spcPct val="100000"/>
              </a:lnSpc>
              <a:spcBef>
                <a:spcPts val="695"/>
              </a:spcBef>
              <a:buFont typeface="Calibri"/>
              <a:buChar char="•"/>
              <a:tabLst>
                <a:tab pos="399415" algn="l"/>
              </a:tabLst>
            </a:pPr>
            <a:r>
              <a:rPr sz="1800" b="1" spc="-90" dirty="0">
                <a:solidFill>
                  <a:srgbClr val="252525"/>
                </a:solidFill>
                <a:latin typeface="Calibri"/>
                <a:cs typeface="Calibri"/>
              </a:rPr>
              <a:t>Referenciado</a:t>
            </a:r>
            <a:r>
              <a:rPr sz="1800" b="1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Calibri"/>
                <a:cs typeface="Calibri"/>
              </a:rPr>
              <a:t>por</a:t>
            </a:r>
            <a:endParaRPr sz="1800">
              <a:latin typeface="Calibri"/>
              <a:cs typeface="Calibri"/>
            </a:endParaRPr>
          </a:p>
          <a:p>
            <a:pPr marL="392430" marR="450215" indent="-3175" algn="just">
              <a:lnSpc>
                <a:spcPct val="143500"/>
              </a:lnSpc>
              <a:spcBef>
                <a:spcPts val="145"/>
              </a:spcBef>
            </a:pPr>
            <a:r>
              <a:rPr sz="1800" b="1" spc="-90" dirty="0">
                <a:solidFill>
                  <a:srgbClr val="252525"/>
                </a:solidFill>
                <a:latin typeface="Calibri"/>
                <a:cs typeface="Calibri"/>
              </a:rPr>
              <a:t>publicaciones</a:t>
            </a:r>
            <a:r>
              <a:rPr sz="1800" b="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90" dirty="0">
                <a:solidFill>
                  <a:srgbClr val="252525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252525"/>
                </a:solidFill>
                <a:latin typeface="Calibri"/>
                <a:cs typeface="Calibri"/>
              </a:rPr>
              <a:t>e</a:t>
            </a:r>
            <a:r>
              <a:rPr sz="1800" b="1" spc="-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Calibri"/>
                <a:cs typeface="Calibri"/>
              </a:rPr>
              <a:t>la</a:t>
            </a:r>
            <a:r>
              <a:rPr sz="1800" b="1" spc="-1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60" dirty="0">
                <a:solidFill>
                  <a:srgbClr val="252525"/>
                </a:solidFill>
                <a:latin typeface="Calibri"/>
                <a:cs typeface="Calibri"/>
              </a:rPr>
              <a:t>PUCE</a:t>
            </a:r>
            <a:r>
              <a:rPr sz="1800" b="1" spc="-1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25" dirty="0">
                <a:solidFill>
                  <a:srgbClr val="252525"/>
                </a:solidFill>
                <a:latin typeface="Calibri"/>
                <a:cs typeface="Calibri"/>
              </a:rPr>
              <a:t>(Ecuador),</a:t>
            </a:r>
            <a:r>
              <a:rPr sz="1800" b="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50" dirty="0">
                <a:solidFill>
                  <a:srgbClr val="252525"/>
                </a:solidFill>
                <a:latin typeface="Calibri"/>
                <a:cs typeface="Calibri"/>
              </a:rPr>
              <a:t>FLACSO</a:t>
            </a:r>
            <a:r>
              <a:rPr sz="1800" b="1" spc="-1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alibri"/>
                <a:cs typeface="Calibri"/>
              </a:rPr>
              <a:t>y</a:t>
            </a:r>
            <a:r>
              <a:rPr sz="1800" b="1" spc="-22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252525"/>
                </a:solidFill>
                <a:latin typeface="Calibri"/>
                <a:cs typeface="Calibri"/>
              </a:rPr>
              <a:t>U.</a:t>
            </a:r>
            <a:r>
              <a:rPr sz="1800" b="1" spc="-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10" dirty="0">
                <a:solidFill>
                  <a:srgbClr val="252525"/>
                </a:solidFill>
                <a:latin typeface="Calibri"/>
                <a:cs typeface="Calibri"/>
              </a:rPr>
              <a:t>De</a:t>
            </a:r>
            <a:r>
              <a:rPr sz="1800" b="1" spc="-2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60" dirty="0">
                <a:solidFill>
                  <a:srgbClr val="252525"/>
                </a:solidFill>
                <a:latin typeface="Calibri"/>
                <a:cs typeface="Calibri"/>
              </a:rPr>
              <a:t>La</a:t>
            </a:r>
            <a:r>
              <a:rPr sz="1800" b="1" spc="-1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25" dirty="0">
                <a:solidFill>
                  <a:srgbClr val="252525"/>
                </a:solidFill>
                <a:latin typeface="Calibri"/>
                <a:cs typeface="Calibri"/>
              </a:rPr>
              <a:t>S</a:t>
            </a:r>
            <a:r>
              <a:rPr sz="1800" b="1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800" b="1" spc="-2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65" dirty="0">
                <a:solidFill>
                  <a:srgbClr val="252525"/>
                </a:solidFill>
                <a:latin typeface="Calibri"/>
                <a:cs typeface="Calibri"/>
              </a:rPr>
              <a:t>le</a:t>
            </a:r>
            <a:r>
              <a:rPr sz="1800" b="1" spc="-1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55" dirty="0">
                <a:solidFill>
                  <a:srgbClr val="252525"/>
                </a:solidFill>
                <a:latin typeface="Calibri"/>
                <a:cs typeface="Calibri"/>
              </a:rPr>
              <a:t>(Colombia),</a:t>
            </a:r>
            <a:r>
              <a:rPr sz="1800" b="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252525"/>
                </a:solidFill>
                <a:latin typeface="Calibri"/>
                <a:cs typeface="Calibri"/>
              </a:rPr>
              <a:t>UTEM</a:t>
            </a:r>
            <a:r>
              <a:rPr sz="1800" b="1" spc="-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252525"/>
                </a:solidFill>
                <a:latin typeface="Calibri"/>
                <a:cs typeface="Calibri"/>
              </a:rPr>
              <a:t>(Chile)</a:t>
            </a:r>
            <a:endParaRPr sz="1800">
              <a:latin typeface="Calibri"/>
              <a:cs typeface="Calibri"/>
            </a:endParaRPr>
          </a:p>
          <a:p>
            <a:pPr marL="392430" marR="1410335" indent="-227329" algn="just">
              <a:lnSpc>
                <a:spcPts val="3070"/>
              </a:lnSpc>
              <a:spcBef>
                <a:spcPts val="80"/>
              </a:spcBef>
              <a:buFont typeface="Calibri"/>
              <a:buChar char="•"/>
              <a:tabLst>
                <a:tab pos="392430" algn="l"/>
                <a:tab pos="396875" algn="l"/>
              </a:tabLst>
            </a:pPr>
            <a:r>
              <a:rPr sz="18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800" b="1" spc="-150" dirty="0">
                <a:solidFill>
                  <a:srgbClr val="252525"/>
                </a:solidFill>
                <a:latin typeface="Calibri"/>
                <a:cs typeface="Calibri"/>
              </a:rPr>
              <a:t>Identificadores:</a:t>
            </a:r>
            <a:r>
              <a:rPr sz="1800" b="1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220" dirty="0">
                <a:solidFill>
                  <a:srgbClr val="252525"/>
                </a:solidFill>
                <a:latin typeface="Calibri"/>
                <a:cs typeface="Calibri"/>
              </a:rPr>
              <a:t>ORCID</a:t>
            </a:r>
            <a:r>
              <a:rPr sz="1800" b="1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52525"/>
                </a:solidFill>
                <a:latin typeface="Calibri"/>
                <a:cs typeface="Calibri"/>
              </a:rPr>
              <a:t>ID </a:t>
            </a:r>
            <a:r>
              <a:rPr sz="1800" b="1" spc="-150" dirty="0">
                <a:solidFill>
                  <a:srgbClr val="252525"/>
                </a:solidFill>
                <a:latin typeface="Calibri"/>
                <a:cs typeface="Calibri"/>
              </a:rPr>
              <a:t>(0009-</a:t>
            </a:r>
            <a:r>
              <a:rPr sz="1800" b="1" spc="-160" dirty="0">
                <a:solidFill>
                  <a:srgbClr val="252525"/>
                </a:solidFill>
                <a:latin typeface="Calibri"/>
                <a:cs typeface="Calibri"/>
              </a:rPr>
              <a:t>0004-8245-</a:t>
            </a:r>
            <a:r>
              <a:rPr sz="1800" b="1" spc="-110" dirty="0">
                <a:solidFill>
                  <a:srgbClr val="252525"/>
                </a:solidFill>
                <a:latin typeface="Calibri"/>
                <a:cs typeface="Calibri"/>
              </a:rPr>
              <a:t>6470)</a:t>
            </a:r>
            <a:r>
              <a:rPr sz="1800" b="1" spc="1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252525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  <a:p>
            <a:pPr marL="400050" marR="347345" algn="just">
              <a:lnSpc>
                <a:spcPts val="3300"/>
              </a:lnSpc>
            </a:pPr>
            <a:r>
              <a:rPr sz="1800" b="1" spc="-200" dirty="0">
                <a:solidFill>
                  <a:srgbClr val="252525"/>
                </a:solidFill>
                <a:latin typeface="Calibri"/>
                <a:cs typeface="Calibri"/>
              </a:rPr>
              <a:t>Indexado</a:t>
            </a:r>
            <a:r>
              <a:rPr sz="1800" b="1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175" dirty="0">
                <a:solidFill>
                  <a:srgbClr val="252525"/>
                </a:solidFill>
                <a:latin typeface="Calibri"/>
                <a:cs typeface="Calibri"/>
              </a:rPr>
              <a:t>porGoogle</a:t>
            </a:r>
            <a:r>
              <a:rPr sz="1800" b="1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95" dirty="0">
                <a:solidFill>
                  <a:srgbClr val="252525"/>
                </a:solidFill>
                <a:latin typeface="Calibri"/>
                <a:cs typeface="Calibri"/>
              </a:rPr>
              <a:t>Académico</a:t>
            </a:r>
            <a:r>
              <a:rPr sz="1800" b="1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b="1" spc="-60" dirty="0">
                <a:solidFill>
                  <a:srgbClr val="252525"/>
                </a:solidFill>
                <a:latin typeface="Calibri"/>
                <a:cs typeface="Calibri"/>
              </a:rPr>
              <a:t>entre </a:t>
            </a:r>
            <a:r>
              <a:rPr sz="1800" b="1" spc="-10" dirty="0">
                <a:solidFill>
                  <a:srgbClr val="252525"/>
                </a:solidFill>
                <a:latin typeface="Calibri"/>
                <a:cs typeface="Calibri"/>
              </a:rPr>
              <a:t>otros.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140" y="6800189"/>
            <a:ext cx="2726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https://orcid.org/0009-</a:t>
            </a:r>
            <a:r>
              <a:rPr sz="1800" i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0004-</a:t>
            </a:r>
            <a:r>
              <a:rPr sz="1800" i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i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8245-</a:t>
            </a:r>
            <a:r>
              <a:rPr sz="1800" i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6470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46600" y="8763000"/>
            <a:ext cx="11709400" cy="369570"/>
          </a:xfrm>
          <a:custGeom>
            <a:avLst/>
            <a:gdLst/>
            <a:ahLst/>
            <a:cxnLst/>
            <a:rect l="l" t="t" r="r" b="b"/>
            <a:pathLst>
              <a:path w="11709400" h="369570">
                <a:moveTo>
                  <a:pt x="11709400" y="0"/>
                </a:moveTo>
                <a:lnTo>
                  <a:pt x="0" y="0"/>
                </a:lnTo>
                <a:lnTo>
                  <a:pt x="0" y="369328"/>
                </a:lnTo>
                <a:lnTo>
                  <a:pt x="11709400" y="369328"/>
                </a:lnTo>
                <a:lnTo>
                  <a:pt x="11709400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46200" y="6553200"/>
            <a:ext cx="4572000" cy="1016000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7175"/>
              </a:lnSpc>
              <a:tabLst>
                <a:tab pos="2299970" algn="l"/>
              </a:tabLst>
            </a:pPr>
            <a:r>
              <a:rPr sz="6000" b="1" spc="-10" dirty="0">
                <a:solidFill>
                  <a:srgbClr val="E36C09"/>
                </a:solidFill>
                <a:latin typeface="Calibri"/>
                <a:cs typeface="Calibri"/>
              </a:rPr>
              <a:t>648,80</a:t>
            </a:r>
            <a:r>
              <a:rPr sz="6000" b="1" dirty="0">
                <a:solidFill>
                  <a:srgbClr val="E36C09"/>
                </a:solidFill>
                <a:latin typeface="Calibri"/>
                <a:cs typeface="Calibri"/>
              </a:rPr>
              <a:t>	</a:t>
            </a:r>
            <a:r>
              <a:rPr sz="6000" b="1" spc="-50" dirty="0">
                <a:solidFill>
                  <a:srgbClr val="E36C09"/>
                </a:solidFill>
                <a:latin typeface="Calibri"/>
                <a:cs typeface="Calibri"/>
              </a:rPr>
              <a:t>%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6200" y="8229600"/>
            <a:ext cx="4572000" cy="369570"/>
          </a:xfrm>
          <a:prstGeom prst="rect">
            <a:avLst/>
          </a:prstGeom>
          <a:solidFill>
            <a:srgbClr val="252525"/>
          </a:solidFill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673,5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r>
              <a:rPr sz="1800" spc="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anualizada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Abril</a:t>
            </a:r>
            <a:r>
              <a:rPr sz="1800" spc="3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(CENDAS-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FMV,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0"/>
                </a:moveTo>
                <a:lnTo>
                  <a:pt x="0" y="0"/>
                </a:lnTo>
                <a:lnTo>
                  <a:pt x="0" y="9144000"/>
                </a:lnTo>
                <a:lnTo>
                  <a:pt x="16256000" y="91440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12699" y="-12699"/>
            <a:ext cx="16281400" cy="9169400"/>
            <a:chOff x="-12699" y="-12699"/>
            <a:chExt cx="16281400" cy="91694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6256000" cy="9144000"/>
            </a:xfrm>
            <a:custGeom>
              <a:avLst/>
              <a:gdLst/>
              <a:ahLst/>
              <a:cxnLst/>
              <a:rect l="l" t="t" r="r" b="b"/>
              <a:pathLst>
                <a:path w="16256000" h="9144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6399" y="1568195"/>
              <a:ext cx="9825037" cy="74779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1940" y="448942"/>
            <a:ext cx="541845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Dato:</a:t>
            </a:r>
            <a:r>
              <a:rPr spc="-25" dirty="0"/>
              <a:t> </a:t>
            </a:r>
            <a:r>
              <a:rPr dirty="0"/>
              <a:t>Tasa</a:t>
            </a:r>
            <a:r>
              <a:rPr spc="-25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crecimiento</a:t>
            </a:r>
            <a:r>
              <a:rPr spc="-25" dirty="0"/>
              <a:t> </a:t>
            </a:r>
            <a:r>
              <a:rPr spc="-10" dirty="0"/>
              <a:t>anualizada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Oferta</a:t>
            </a:r>
            <a:r>
              <a:rPr spc="-20" dirty="0"/>
              <a:t> </a:t>
            </a:r>
            <a:r>
              <a:rPr dirty="0"/>
              <a:t>Monetaria</a:t>
            </a:r>
            <a:r>
              <a:rPr spc="-25" dirty="0"/>
              <a:t> </a:t>
            </a:r>
            <a:r>
              <a:rPr dirty="0"/>
              <a:t>Venezuela</a:t>
            </a:r>
            <a:r>
              <a:rPr spc="-20" dirty="0"/>
              <a:t> </a:t>
            </a:r>
            <a:r>
              <a:rPr spc="-50" dirty="0"/>
              <a:t>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81940" y="1302382"/>
            <a:ext cx="1753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Marzo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2023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6527" y="7218515"/>
            <a:ext cx="251714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Fuente: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Universidad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Johns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Hopkins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Fuente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original: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Banco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Central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Venezuela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27600" y="8686800"/>
            <a:ext cx="11328400" cy="419100"/>
          </a:xfrm>
          <a:custGeom>
            <a:avLst/>
            <a:gdLst/>
            <a:ahLst/>
            <a:cxnLst/>
            <a:rect l="l" t="t" r="r" b="b"/>
            <a:pathLst>
              <a:path w="11328400" h="419100">
                <a:moveTo>
                  <a:pt x="11328400" y="0"/>
                </a:moveTo>
                <a:lnTo>
                  <a:pt x="0" y="0"/>
                </a:lnTo>
                <a:lnTo>
                  <a:pt x="0" y="419100"/>
                </a:lnTo>
                <a:lnTo>
                  <a:pt x="11328400" y="419100"/>
                </a:lnTo>
                <a:lnTo>
                  <a:pt x="11328400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27600" y="8686800"/>
            <a:ext cx="11328400" cy="419100"/>
          </a:xfrm>
          <a:custGeom>
            <a:avLst/>
            <a:gdLst/>
            <a:ahLst/>
            <a:cxnLst/>
            <a:rect l="l" t="t" r="r" b="b"/>
            <a:pathLst>
              <a:path w="11328400" h="419100">
                <a:moveTo>
                  <a:pt x="11328400" y="0"/>
                </a:moveTo>
                <a:lnTo>
                  <a:pt x="0" y="0"/>
                </a:lnTo>
                <a:lnTo>
                  <a:pt x="0" y="419100"/>
                </a:lnTo>
                <a:lnTo>
                  <a:pt x="11328400" y="419100"/>
                </a:lnTo>
                <a:lnTo>
                  <a:pt x="11328400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071600" y="6705600"/>
            <a:ext cx="1066800" cy="462280"/>
          </a:xfrm>
          <a:prstGeom prst="rect">
            <a:avLst/>
          </a:prstGeom>
          <a:solidFill>
            <a:srgbClr val="60470A"/>
          </a:solidFill>
        </p:spPr>
        <p:txBody>
          <a:bodyPr vert="horz" wrap="square" lIns="0" tIns="2603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04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48,9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8686800"/>
            <a:ext cx="16256000" cy="400685"/>
          </a:xfrm>
          <a:custGeom>
            <a:avLst/>
            <a:gdLst/>
            <a:ahLst/>
            <a:cxnLst/>
            <a:rect l="l" t="t" r="r" b="b"/>
            <a:pathLst>
              <a:path w="16256000" h="400684">
                <a:moveTo>
                  <a:pt x="16256000" y="0"/>
                </a:moveTo>
                <a:lnTo>
                  <a:pt x="0" y="0"/>
                </a:lnTo>
                <a:lnTo>
                  <a:pt x="0" y="400113"/>
                </a:lnTo>
                <a:lnTo>
                  <a:pt x="16256000" y="400113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055725" y="8703564"/>
            <a:ext cx="21221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(Conindustria,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927600" y="8686800"/>
            <a:ext cx="11328400" cy="419100"/>
          </a:xfrm>
          <a:custGeom>
            <a:avLst/>
            <a:gdLst/>
            <a:ahLst/>
            <a:cxnLst/>
            <a:rect l="l" t="t" r="r" b="b"/>
            <a:pathLst>
              <a:path w="11328400" h="419100">
                <a:moveTo>
                  <a:pt x="11328400" y="0"/>
                </a:moveTo>
                <a:lnTo>
                  <a:pt x="0" y="0"/>
                </a:lnTo>
                <a:lnTo>
                  <a:pt x="0" y="419100"/>
                </a:lnTo>
                <a:lnTo>
                  <a:pt x="11328400" y="419100"/>
                </a:lnTo>
                <a:lnTo>
                  <a:pt x="11328400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9"/>
            <a:ext cx="16256000" cy="90677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686800"/>
            <a:ext cx="16256000" cy="419100"/>
          </a:xfrm>
          <a:custGeom>
            <a:avLst/>
            <a:gdLst/>
            <a:ahLst/>
            <a:cxnLst/>
            <a:rect l="l" t="t" r="r" b="b"/>
            <a:pathLst>
              <a:path w="16256000" h="419100">
                <a:moveTo>
                  <a:pt x="16256000" y="0"/>
                </a:moveTo>
                <a:lnTo>
                  <a:pt x="0" y="0"/>
                </a:lnTo>
                <a:lnTo>
                  <a:pt x="0" y="419100"/>
                </a:lnTo>
                <a:lnTo>
                  <a:pt x="16256000" y="419100"/>
                </a:lnTo>
                <a:lnTo>
                  <a:pt x="16256000" y="0"/>
                </a:lnTo>
                <a:close/>
              </a:path>
            </a:pathLst>
          </a:custGeom>
          <a:solidFill>
            <a:srgbClr val="10233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118</Words>
  <Application>Microsoft Office PowerPoint</Application>
  <PresentationFormat>Personalizado</PresentationFormat>
  <Paragraphs>15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Indexación y Alcance Científico</vt:lpstr>
      <vt:lpstr>Presentación de PowerPoint</vt:lpstr>
      <vt:lpstr>Presentación de PowerPoint</vt:lpstr>
      <vt:lpstr>Presentación de PowerPoint</vt:lpstr>
      <vt:lpstr>Presentación de PowerPoint</vt:lpstr>
      <vt:lpstr>Dato: Tasa de crecimiento anualizada de la Oferta Monetaria Venezuela 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Polsystem</dc:creator>
  <cp:lastModifiedBy>Polsystem</cp:lastModifiedBy>
  <cp:revision>1</cp:revision>
  <dcterms:created xsi:type="dcterms:W3CDTF">2026-06-04T05:25:06Z</dcterms:created>
  <dcterms:modified xsi:type="dcterms:W3CDTF">2026-06-04T05:24:15Z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LastSaved">
    <vt:filetime>2026-06-04T00:00:00Z</vt:filetime>
  </property>
  <property fmtid="{D5CDD505-2E9C-101B-9397-08002B2CF9AE}" pid="4" name="Producer">
    <vt:lpwstr>3-Heights(TM) PDF Security Shell 4.8.25.2 (http://www.pdf-tools.com)</vt:lpwstr>
  </property>
</Properties>
</file>